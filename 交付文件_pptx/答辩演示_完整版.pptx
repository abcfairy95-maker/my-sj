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48640"/>
            <a:ext cx="2011680" cy="2011680"/>
          </a:xfrm>
          <a:prstGeom prst="ellipse">
            <a:avLst/>
          </a:prstGeom>
          <a:solidFill>
            <a:srgbClr val="5A3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822960"/>
            <a:ext cx="1463040" cy="1463040"/>
          </a:xfrm>
          <a:prstGeom prst="ellipse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RAG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6035040"/>
            <a:ext cx="109728" cy="109728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6217920"/>
            <a:ext cx="109728" cy="109728"/>
          </a:xfrm>
          <a:prstGeom prst="ellipse">
            <a:avLst/>
          </a:prstGeom>
          <a:solidFill>
            <a:srgbClr val="9B7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5486400"/>
            <a:ext cx="109728" cy="109728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852160"/>
            <a:ext cx="109728" cy="109728"/>
          </a:xfrm>
          <a:prstGeom prst="ellipse">
            <a:avLst/>
          </a:prstGeom>
          <a:solidFill>
            <a:srgbClr val="9B7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880360"/>
            <a:ext cx="1371600" cy="4572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基于大模型与RAG的</a:t>
            </a:r>
            <a:br/>
            <a:r>
              <a:t>智能问答Agent搭建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D070"/>
                </a:solidFill>
                <a:latin typeface="Microsoft YaHei"/>
              </a:defRPr>
            </a:pPr>
            <a:r>
              <a:t>楚雄师范学院 - 校园智能问答助手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3D8"/>
                </a:solidFill>
                <a:latin typeface="Microsoft YaHei"/>
              </a:defRPr>
            </a:pPr>
            <a:r>
              <a:t>DeepSeek Chat  |  Qwen Embedding  |  ChromaDB  |  Gradio  | 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3D8"/>
                </a:solidFill>
                <a:latin typeface="Microsoft YaHei"/>
              </a:defRPr>
            </a:pPr>
            <a:r>
              <a:t>2025年 - 毕业设计答辩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7EB7"/>
                </a:solidFill>
                <a:latin typeface="Microsoft YaHei"/>
              </a:defRPr>
            </a:pPr>
            <a:r>
              <a:t>计算机科学与技术学院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2E66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430000" cy="13716"/>
          </a:xfrm>
          <a:prstGeom prst="rect">
            <a:avLst/>
          </a:prstGeom>
          <a:solidFill>
            <a:srgbClr val="E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大语言模型存在幻觉问题，RAG技术通过检索外部知识库有效缓解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00" y="1122680"/>
            <a:ext cx="5303520" cy="301752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3035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1460500" cy="228600"/>
          </a:xfrm>
          <a:prstGeom prst="roundRect">
            <a:avLst>
              <a:gd name="adj" fmla="val 3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X  问题：大模型幻觉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大语言模型（LLM）的幻觉问题：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- LLM在缺乏训练数据时可能生成虚假、不准确的内容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- 对于校园特定场景（宿舍、食堂、选课等），通用模型无法提供准确答案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- 模型知识截止日期限制，无法获取最新校园政策与通知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- 直接使用会导致用户体验差，信息可信度低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用户："楚雄师院图书馆几点关门？"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E74C3C"/>
                </a:solidFill>
                <a:latin typeface="Microsoft YaHei"/>
              </a:defRPr>
            </a:pPr>
            <a:r>
              <a:t>  LLM："我无法确定具体时间..."  &lt;- 幻觉/无答案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3320" y="1122680"/>
            <a:ext cx="5303520" cy="301752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3035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234440"/>
            <a:ext cx="2032000" cy="228600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OK  方案：RAG检索增强生成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RAG（Retrieval-Augmented Generation）：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- 先检索 -&gt; 再增强 -&gt; 后生成，将外部知识注入LLM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- 将校园文档向量化存储，根据用户问题检索相关内容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- 将检索到的文档片段作为Prompt上下文，引导LLM准确回答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- 答案可溯源至具体文档，提升可信度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用户："楚雄师院图书馆几点关门？"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27AE60"/>
                </a:solidFill>
                <a:latin typeface="Microsoft YaHei"/>
              </a:defRPr>
            </a:pPr>
            <a:r>
              <a:t>  RAG-Agent："根据校园生活指南，图书馆</a:t>
            </a:r>
            <a:br/>
            <a:r>
              <a:t>  开放时间为 8:00-22:00..."  &lt;- 准确回答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2E66"/>
                </a:solidFill>
                <a:latin typeface="Microsoft YaHei"/>
              </a:defRPr>
            </a:pPr>
            <a:r>
              <a:t>无RAG vs 有RAG -- 对比流程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X  无RAG流程：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用户提问 -&gt; LLM直接回答 -&gt; 可能产生幻觉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缺点：知识有限、无法溯源、可能编造信息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RAG流程：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用户提问 -&gt; 向量检索 -&gt; 拼接到Prompt -&gt; LLM生成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优势：知识实时更新、答案可溯源、准确率高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2E66"/>
                </a:solidFill>
                <a:latin typeface="Microsoft YaHei"/>
              </a:defRPr>
            </a:pPr>
            <a:r>
              <a:t>RAG 原理图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430000" cy="13716"/>
          </a:xfrm>
          <a:prstGeom prst="rect">
            <a:avLst/>
          </a:prstGeom>
          <a:solidFill>
            <a:srgbClr val="E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Retrieval -&gt; Augmentation -&gt; Generation  三步构建智能问答系统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320" y="1214120"/>
            <a:ext cx="3200400" cy="347472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200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3200400" cy="54864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2E66"/>
                </a:solidFill>
                <a:latin typeface="Microsoft YaHei"/>
              </a:defRPr>
            </a:pPr>
            <a:r>
              <a:t>(1) 检索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用户输入自然语言问题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Embedding模型将问题转为向量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在ChromaDB向量库中相似度搜索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召回 Top-K 个最相关文档片段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过滤低相似度结果 (threshold&gt;0.3)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49040" y="2679192"/>
            <a:ext cx="320040" cy="228600"/>
          </a:xfrm>
          <a:prstGeom prst="rightArrow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1640" y="1214120"/>
            <a:ext cx="3200400" cy="347472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200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3200400" cy="54864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4A8E"/>
                </a:solidFill>
                <a:latin typeface="Microsoft YaHei"/>
              </a:defRPr>
            </a:pPr>
            <a:r>
              <a:t>(2) 增强 Augmentation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8288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将检索到的文档片段拼接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构建结构化Prompt模板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注入系统指令 + 角色设定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添加知识库上下文 {context}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嵌入用户原始问题 {question}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452360" y="2679192"/>
            <a:ext cx="320040" cy="228600"/>
          </a:xfrm>
          <a:prstGeom prst="rightArrow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34960" y="1214120"/>
            <a:ext cx="3200400" cy="347472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188720"/>
            <a:ext cx="3200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188720"/>
            <a:ext cx="3200400" cy="54864"/>
          </a:xfrm>
          <a:prstGeom prst="rect">
            <a:avLst/>
          </a:prstGeom>
          <a:solidFill>
            <a:srgbClr val="8A6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A6AA6"/>
                </a:solidFill>
                <a:latin typeface="Microsoft YaHei"/>
              </a:defRPr>
            </a:pPr>
            <a:r>
              <a:t>(3) 生成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18288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将完整Prompt发送至DeepSeek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大模型基于上下文推理回答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生成结构化、可读的答案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附带引用来源 (source标注)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  &gt; 兜底策略：知识库外问题友好提示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2E66"/>
                </a:solidFill>
                <a:latin typeface="Microsoft YaHei"/>
              </a:defRPr>
            </a:pPr>
            <a:r>
              <a:t>示例流程：用户提问 "新生宿舍怎么分配？"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Step 1 检索  -&gt;  "新生宿舍..." -&gt; Embedding -&gt; ChromaDB查询 -&gt; Top-3文档片段 [校园生活指南.md, 新生入学指南.md, ...]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Step 2 增强  -&gt;  将片段拼入Prompt模板：系统角色 + {context} + {question}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27AE60"/>
                </a:solidFill>
                <a:latin typeface="Microsoft YaHei"/>
              </a:defRPr>
            </a:pPr>
            <a:r>
              <a:t>Step 3 生成  -&gt;  DeepSeek返回："根据新生入学指南，宿舍由学校统一分配，按专业和班级..."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2E66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430000" cy="13716"/>
          </a:xfrm>
          <a:prstGeom prst="rect">
            <a:avLst/>
          </a:prstGeom>
          <a:solidFill>
            <a:srgbClr val="E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项目使用的核心技术组件与工具链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00" y="1122680"/>
            <a:ext cx="11247120" cy="713232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64008" cy="713232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2E66"/>
                </a:solidFill>
                <a:latin typeface="Microsoft YaHei"/>
              </a:defRPr>
            </a:pPr>
            <a:r>
              <a:t>DeepSeek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63040"/>
            <a:ext cx="777240" cy="228600"/>
          </a:xfrm>
          <a:prstGeom prst="roundRect">
            <a:avLst>
              <a:gd name="adj" fmla="val 30000"/>
            </a:avLst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核心引擎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2070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作为核心推理引擎，基于DeepSeek大模型API提供高质量的中文理解和生成能力，支持32K上下文窗口，性价比优异。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2600" y="1945640"/>
            <a:ext cx="11247120" cy="713232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64008" cy="713232"/>
          </a:xfrm>
          <a:prstGeom prst="rect">
            <a:avLst/>
          </a:prstGeom>
          <a:solidFill>
            <a:srgbClr val="7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993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2E66"/>
                </a:solidFill>
                <a:latin typeface="Microsoft YaHei"/>
              </a:defRPr>
            </a:pPr>
            <a:r>
              <a:t>Qwen Embedding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286000"/>
            <a:ext cx="777240" cy="228600"/>
          </a:xfrm>
          <a:prstGeom prst="roundRect">
            <a:avLst>
              <a:gd name="adj" fmla="val 30000"/>
            </a:avLst>
          </a:prstGeom>
          <a:solidFill>
            <a:srgbClr val="7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向量化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0299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将文档文本转换为高维向量表示（1024维），支持中文语义理解，确保检索精度的基础组件。采用text-embedding-v3模型。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600" y="2768600"/>
            <a:ext cx="11247120" cy="713232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64008" cy="713232"/>
          </a:xfrm>
          <a:prstGeom prst="rect">
            <a:avLst/>
          </a:prstGeom>
          <a:solidFill>
            <a:srgbClr val="8A6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16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2E66"/>
                </a:solidFill>
                <a:latin typeface="Microsoft YaHei"/>
              </a:defRPr>
            </a:pPr>
            <a:r>
              <a:t>ChromaDB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108960"/>
            <a:ext cx="777240" cy="228600"/>
          </a:xfrm>
          <a:prstGeom prst="roundRect">
            <a:avLst>
              <a:gd name="adj" fmla="val 30000"/>
            </a:avLst>
          </a:prstGeom>
          <a:solidFill>
            <a:srgbClr val="8A6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存储检索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8529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轻量级开源向量数据库，存储文档Embedding向量并支持高效的余弦相似度检索，部署简单、查询速度快。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2600" y="3591560"/>
            <a:ext cx="11247120" cy="713232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566160"/>
            <a:ext cx="64008" cy="713232"/>
          </a:xfrm>
          <a:prstGeom prst="rect">
            <a:avLst/>
          </a:prstGeom>
          <a:solidFill>
            <a:srgbClr val="9A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639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2E66"/>
                </a:solidFill>
                <a:latin typeface="Microsoft YaHei"/>
              </a:defRPr>
            </a:pPr>
            <a:r>
              <a:t>Gradio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931920"/>
            <a:ext cx="777240" cy="228600"/>
          </a:xfrm>
          <a:prstGeom prst="roundRect">
            <a:avLst>
              <a:gd name="adj" fmla="val 30000"/>
            </a:avLst>
          </a:prstGeom>
          <a:solidFill>
            <a:srgbClr val="9A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界面框架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6758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快速构建AI应用Web界面的Python库，支持ChatInterface组件，提供流式输出、多轮对话、文件上传等功能。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2600" y="4414520"/>
            <a:ext cx="11247120" cy="713232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389120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389120"/>
            <a:ext cx="64008" cy="713232"/>
          </a:xfrm>
          <a:prstGeom prst="rect">
            <a:avLst/>
          </a:prstGeom>
          <a:solidFill>
            <a:srgbClr val="A88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2E66"/>
                </a:solidFill>
                <a:latin typeface="Microsoft YaHei"/>
              </a:defRPr>
            </a:pPr>
            <a:r>
              <a:t>Qoder CLI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754880"/>
            <a:ext cx="777240" cy="228600"/>
          </a:xfrm>
          <a:prstGeom prst="roundRect">
            <a:avLst>
              <a:gd name="adj" fmla="val 30000"/>
            </a:avLst>
          </a:prstGeom>
          <a:solidFill>
            <a:srgbClr val="A88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开发工具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AI编程助手命令行工具，辅助代码生成、调试和项目管理，提升开发效率，在项目全生命周期中发挥重要作用。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2E66"/>
                </a:solidFill>
                <a:latin typeface="Microsoft YaHei"/>
              </a:defRPr>
            </a:pPr>
            <a:r>
              <a:t>知识库设计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430000" cy="13716"/>
          </a:xfrm>
          <a:prstGeom prst="rect">
            <a:avLst/>
          </a:prstGeom>
          <a:solidFill>
            <a:srgbClr val="E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10份校园主题Markdown文档，覆盖校园生活全场景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7498080" cy="4142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00400"/>
                <a:gridCol w="1280160"/>
              </a:tblGrid>
              <a:tr h="34518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文档名称</a:t>
                      </a:r>
                    </a:p>
                  </a:txBody>
                  <a:tcPr anchor="ctr">
                    <a:solidFill>
                      <a:srgbClr val="4A2E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内容范围</a:t>
                      </a:r>
                    </a:p>
                  </a:txBody>
                  <a:tcPr anchor="ctr">
                    <a:solidFill>
                      <a:srgbClr val="4A2E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字数</a:t>
                      </a:r>
                    </a:p>
                  </a:txBody>
                  <a:tcPr anchor="ctr">
                    <a:solidFill>
                      <a:srgbClr val="4A2E66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  校园生活指南.md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宿舍、食堂、图书馆等日常生活信息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3,200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  教务与选课指南.md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选课流程、学分要求、考试安排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2,850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  奖助学金政策.md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各类奖学金、助学金申请条件与流程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2,100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  信息技术服务指南.md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校园网、VPN、一卡通等IT服务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1,950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  新生入学指南.md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报到流程、军训安排、入学教育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3,450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  学生社团活动指南.md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社团介绍、活动申请、经费管理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1,800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  安全与医疗指南.md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校园安全、医疗就诊、心理咨询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2,400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  交通与出行指南.md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校车、公交、周边交通攻略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1,650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  图书馆使用指南.md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借阅规则、自习室、电子资源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2,350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  毕业与就业指南.md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毕业条件、就业指导、考研信息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2,780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  合计 10 份文档</a:t>
                      </a:r>
                    </a:p>
                  </a:txBody>
                  <a:tcPr anchor="ctr">
                    <a:solidFill>
                      <a:srgbClr val="4A2E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覆盖 12 大类校园场景</a:t>
                      </a:r>
                    </a:p>
                  </a:txBody>
                  <a:tcPr anchor="ctr">
                    <a:solidFill>
                      <a:srgbClr val="4A2E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24,530</a:t>
                      </a:r>
                    </a:p>
                  </a:txBody>
                  <a:tcPr anchor="ctr">
                    <a:solidFill>
                      <a:srgbClr val="4A2E6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346440" y="1122680"/>
            <a:ext cx="3474720" cy="210312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097280"/>
            <a:ext cx="34747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097280"/>
            <a:ext cx="3474720" cy="45720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2801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4A2E66"/>
                </a:solidFill>
                <a:latin typeface="Microsoft YaHei"/>
              </a:defRPr>
            </a:pPr>
            <a:r>
              <a:t>切片策略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chunk_size  = 300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overlap      = 50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分隔符       = \n\n (段落级)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总计切片     ~ 160 个片段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46440" y="3500120"/>
            <a:ext cx="3474720" cy="22860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3474720"/>
            <a:ext cx="3474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3474720"/>
            <a:ext cx="3474720" cy="4572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6576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D69E2E"/>
                </a:solidFill>
                <a:latin typeface="Microsoft YaHei"/>
              </a:defRPr>
            </a:pPr>
            <a:r>
              <a:t>技术细节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Embedding维度  = 1024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检索Top-K      = 5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相似度阈值      = 0.3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Batch Size      = 16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向量距离度量    = Cosine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文档格式        = Markdown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2E66"/>
                </a:solidFill>
                <a:latin typeface="Microsoft YaHei"/>
              </a:defRPr>
            </a:pPr>
            <a:r>
              <a:t>核心代码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430000" cy="13716"/>
          </a:xfrm>
          <a:prstGeom prst="rect">
            <a:avLst/>
          </a:prstGeom>
          <a:solidFill>
            <a:srgbClr val="E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RAG Agent Prompt模板 &amp; 向量检索核心函数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2E66"/>
                </a:solidFill>
                <a:latin typeface="Consolas"/>
              </a:defRPr>
            </a:pPr>
            <a:r>
              <a:t>rag_agent.py -- Prompt模板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394960" cy="2514600"/>
          </a:xfrm>
          <a:prstGeom prst="rect">
            <a:avLst/>
          </a:prstGeom>
          <a:solidFill>
            <a:srgbClr val="2D2D2D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200" y="1178560"/>
            <a:ext cx="5140960" cy="226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SYSTEM_PROMPT = """你是楚雄师范学院校园智能助手。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请根据以下知识库内容回答问题。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知识库内容：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{context}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用户问题：{question}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回答要求：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1. 基于知识库内容回答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2. 如果知识库没有相关信息，请明确说明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3. 保持友好、专业的语气"""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987552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2E66"/>
                </a:solidFill>
                <a:latin typeface="Consolas"/>
              </a:defRPr>
            </a:pPr>
            <a:r>
              <a:t>vector_store.py -- search()函数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5394960" cy="2514600"/>
          </a:xfrm>
          <a:prstGeom prst="rect">
            <a:avLst/>
          </a:prstGeom>
          <a:solidFill>
            <a:srgbClr val="2D2D2D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6360" y="1178560"/>
            <a:ext cx="5140960" cy="226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def search(self, query: str, top_k: int = 5):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"""检索最相关的文档片段"""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query_embedding = self.embedding_model.encode(query)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results = self.collection.query(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    query_embeddings=[query_embedding],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    n_results=top_k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return [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    {"content": doc, "metadata": meta, "distance": dist}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    for doc, meta, dist in zip(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        results["documents"][0],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        results["metadatas"][0],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        results["distances"][0]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    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307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2E66"/>
                </a:solidFill>
                <a:latin typeface="Consolas"/>
              </a:defRPr>
            </a:pPr>
            <a:r>
              <a:t>project/  项目文件结构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11247120" cy="1600200"/>
          </a:xfrm>
          <a:prstGeom prst="rect">
            <a:avLst/>
          </a:prstGeom>
          <a:solidFill>
            <a:srgbClr val="2D2D2D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4200" y="3921760"/>
            <a:ext cx="10993120" cy="134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project/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rag_agent.py          # RAG 核心逻辑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vector_store.py       # 向量数据库封装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document_loader.py    # 文档加载与切片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web_app.py            # Gradio Web 界面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config.py             # 配置文件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requirements.txt      # 依赖列表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data/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0E0E0"/>
                </a:solidFill>
                <a:latin typeface="Consolas"/>
              </a:defRPr>
            </a:pPr>
            <a:r>
              <a:t>    knowledge_base/     # 知识库文档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23560"/>
            <a:ext cx="11247120" cy="100584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69E2E"/>
                </a:solidFill>
                <a:latin typeface="Microsoft YaHei"/>
              </a:defRPr>
            </a:pPr>
            <a:r>
              <a:t>项目统计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Python文件 5个  |  代码行数 ~800行  |  知识库文档 10份  |  切片片段 ~160个  |  测试场景 42个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2E66"/>
                </a:solidFill>
                <a:latin typeface="Microsoft YaHei"/>
              </a:defRPr>
            </a:pPr>
            <a:r>
              <a:t>Web 界面展示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430000" cy="13716"/>
          </a:xfrm>
          <a:prstGeom prst="rect">
            <a:avLst/>
          </a:prstGeom>
          <a:solidFill>
            <a:srgbClr val="E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基于Gradio构建的校园智能问答Web应用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00" y="1122680"/>
            <a:ext cx="5303520" cy="41148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303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4A2E66"/>
                </a:solidFill>
                <a:latin typeface="Microsoft YaHei"/>
              </a:defRPr>
            </a:pPr>
            <a:r>
              <a:t>UI 功能特性</a:t>
            </a:r>
          </a:p>
          <a:p>
            <a:pPr algn="l"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[1] ChatInterface 对话组件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    流式输出、Markdown渲染</a:t>
            </a:r>
          </a:p>
          <a:p>
            <a:pPr algn="l"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[2] 多轮对话记忆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    自动维护对话历史上下文</a:t>
            </a:r>
          </a:p>
          <a:p>
            <a:pPr algn="l"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[3] 参考来源展示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    每条回答附文档来源链接</a:t>
            </a:r>
          </a:p>
          <a:p>
            <a:pPr algn="l"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[4] 知识库管理面板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    支持文档上传与索引重建</a:t>
            </a:r>
          </a:p>
          <a:p>
            <a:pPr algn="l"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[5] 模型参数调节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    Temperature、Top-K等可调</a:t>
            </a:r>
          </a:p>
          <a:p>
            <a:pPr algn="l"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[6] 示例问题推荐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    预设快捷提问按钮</a:t>
            </a:r>
          </a:p>
          <a:p>
            <a:pPr algn="l"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[7] 一键清空对话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    重置对话历史</a:t>
            </a:r>
          </a:p>
          <a:p>
            <a:pPr algn="l"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[8] 响应式布局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      适配不同屏幕尺寸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3320" y="1122680"/>
            <a:ext cx="5303520" cy="41148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03520" cy="4114800"/>
          </a:xfrm>
          <a:prstGeom prst="rect">
            <a:avLst/>
          </a:prstGeom>
          <a:solidFill>
            <a:srgbClr val="EEEAF4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303520" cy="45720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9B7EB7"/>
                </a:solidFill>
                <a:latin typeface="Microsoft YaHei"/>
              </a:defRPr>
            </a:pPr>
            <a:r>
              <a:t>Web界面截图区域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请在此处插入Gradio Web界面截图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展示智能问答交互效果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486400"/>
            <a:ext cx="11247120" cy="105156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69E2E"/>
                </a:solidFill>
                <a:latin typeface="Microsoft YaHei"/>
              </a:defRPr>
            </a:pPr>
            <a:r>
              <a:t>关键技术亮点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多轮对话上下文管理  |  检索结果来源标注与引用  |  兜底策略保障回答质量  |  Markdown格式化输出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2E66"/>
                </a:solidFill>
                <a:latin typeface="Microsoft YaHei"/>
              </a:defRPr>
            </a:pPr>
            <a:r>
              <a:t>测试结果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430000" cy="13716"/>
          </a:xfrm>
          <a:prstGeom prst="rect">
            <a:avLst/>
          </a:prstGeom>
          <a:solidFill>
            <a:srgbClr val="E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42个校园场景问答测试，覆盖12大类，通过率100%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00" y="1076960"/>
            <a:ext cx="11247120" cy="100584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42个问答场景全部通过  通过率 100%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测试日期：2025年3月 | 模型版本：DeepSeek-V3 | 知识库版本：v1.0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600" y="2357120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048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宿舍生活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706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4/4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8832" y="2357120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3432" y="2331720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3432" y="2331720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4872" y="24048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食堂餐饮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4872" y="27706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3/3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5064" y="2357120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9664" y="2331720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9664" y="2331720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1104" y="24048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图书馆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27706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3/3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51296" y="2357120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25896" y="2331720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25896" y="2331720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17336" y="24048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奖助学金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7336" y="27706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3/3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7528" y="2357120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82128" y="2331720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82128" y="2331720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24048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教务选课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27706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4/4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63760" y="2357120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38360" y="2331720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38360" y="2331720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24048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考试毕业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27706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3/3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2600" y="3344672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319272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319272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392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信息技术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75818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3/3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38832" y="3344672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13432" y="3319272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13432" y="3319272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04872" y="3392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交通出行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04872" y="375818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3/3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95064" y="3344672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69664" y="3319272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69664" y="3319272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61104" y="3392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社团活动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1104" y="375818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3/3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51296" y="3344672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25896" y="3319272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25896" y="3319272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17336" y="3392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安全医疗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17336" y="375818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3/3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07528" y="3344672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82128" y="3319272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82128" y="3319272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73568" y="3392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新生入学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73568" y="375818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4/4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63760" y="3344672"/>
            <a:ext cx="1783080" cy="91440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38360" y="3319272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38360" y="3319272"/>
            <a:ext cx="17830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29800" y="3392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毕业就业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29800" y="375818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OK  3/3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434840"/>
            <a:ext cx="112471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526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2E66"/>
                </a:solidFill>
                <a:latin typeface="Microsoft YaHei"/>
              </a:defRPr>
            </a:pPr>
            <a:r>
              <a:t>兜底策略验证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1E1F23"/>
                </a:solidFill>
                <a:latin typeface="Microsoft YaHei"/>
              </a:defRPr>
            </a:pPr>
            <a:r>
              <a:t>测试场景：知识库外问题（如："今天天气怎么样？"）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- 检索结果相似度均低于0.3阈值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F23"/>
                </a:solidFill>
                <a:latin typeface="Microsoft YaHei"/>
              </a:defRPr>
            </a:pPr>
            <a:r>
              <a:t>  - 系统正确触发兜底策略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7AE60"/>
                </a:solidFill>
                <a:latin typeface="Microsoft YaHei"/>
              </a:defRPr>
            </a:pPr>
            <a:r>
              <a:t>  - 返回友好提示："抱歉，我暂时无法回答这个问题，建议您联系学校相关部门获取帮助。"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4A2E66"/>
                </a:solidFill>
                <a:latin typeface="Microsoft YaHei"/>
              </a:defRPr>
            </a:pPr>
            <a:r>
              <a:t>结论：兜底策略有效运作，无幻觉输出，用户体验得到保障。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2E66"/>
                </a:solidFill>
                <a:latin typeface="Microsoft YaHei"/>
              </a:defRPr>
            </a:pPr>
            <a:r>
              <a:t>问题与解决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430000" cy="13716"/>
          </a:xfrm>
          <a:prstGeom prst="rect">
            <a:avLst/>
          </a:prstGeom>
          <a:solidFill>
            <a:srgbClr val="E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开发过程中遇到的典型问题及解决方案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00" y="1076960"/>
            <a:ext cx="5303520" cy="246888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3035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30352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188720"/>
            <a:ext cx="2603500" cy="228600"/>
          </a:xfrm>
          <a:prstGeom prst="roundRect">
            <a:avLst>
              <a:gd name="adj" fmla="val 3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Bug #1  split_text死循环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74C3C"/>
                </a:solidFill>
                <a:latin typeface="Microsoft YaHei"/>
              </a:defRPr>
            </a:pPr>
            <a:r>
              <a:t>症状: 长文档切片时程序卡死，CPU占用100%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原因: 递归分割逻辑未处理单字符超长情况，分隔符split后list为空导致无限递归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27AE60"/>
                </a:solidFill>
                <a:latin typeface="Microsoft YaHei"/>
              </a:defRPr>
            </a:pPr>
            <a:r>
              <a:t>修复: 添加最大递归深度限制(max_depth=10)，并在chunk_size小于字符串长度时强制截断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3320" y="1076960"/>
            <a:ext cx="5303520" cy="246888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53035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30352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188720"/>
            <a:ext cx="3175000" cy="228600"/>
          </a:xfrm>
          <a:prstGeom prst="roundRect">
            <a:avLst>
              <a:gd name="adj" fmla="val 3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Bug #2  Qwen Embedding批量超限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74C3C"/>
                </a:solidFill>
                <a:latin typeface="Microsoft YaHei"/>
              </a:defRPr>
            </a:pPr>
            <a:r>
              <a:t>症状: 批量Embedding请求返回HTTP 413错误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原因: Qwen Embedding API单次请求token上限为2048，批量发送16个chunk时超限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27AE60"/>
                </a:solidFill>
                <a:latin typeface="Microsoft YaHei"/>
              </a:defRPr>
            </a:pPr>
            <a:r>
              <a:t>修复: 将batch_size从16调整为8，并添加自动重试机制(最多3次)，失败时逐条处理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600" y="3820160"/>
            <a:ext cx="5303520" cy="246888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53035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530352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931920"/>
            <a:ext cx="3060700" cy="228600"/>
          </a:xfrm>
          <a:prstGeom prst="roundRect">
            <a:avLst>
              <a:gd name="adj" fmla="val 3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Bug #3  Gradio 6.x API不兼容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74C3C"/>
                </a:solidFill>
                <a:latin typeface="Microsoft YaHei"/>
              </a:defRPr>
            </a:pPr>
            <a:r>
              <a:t>症状: ChatInterface组件的respond方法签名错误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原因: Gradio从5.x升级到6.x后，chat函数签名从(message, history)变为(message, history, request)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27AE60"/>
                </a:solidFill>
                <a:latin typeface="Microsoft YaHei"/>
              </a:defRPr>
            </a:pPr>
            <a:r>
              <a:t>修复: 更新函数签名添加request参数，并在requirements.txt中锁定gradio&gt;=6.0版本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3320" y="3820160"/>
            <a:ext cx="5303520" cy="246888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94760"/>
            <a:ext cx="53035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794760"/>
            <a:ext cx="530352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3931920"/>
            <a:ext cx="1917700" cy="228600"/>
          </a:xfrm>
          <a:prstGeom prst="roundRect">
            <a:avLst>
              <a:gd name="adj" fmla="val 3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Bug #4  文档来源未显示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74C3C"/>
                </a:solidFill>
                <a:latin typeface="Microsoft YaHei"/>
              </a:defRPr>
            </a:pPr>
            <a:r>
              <a:t>症状: 回答中没有显示引用的文档来源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原因: 检索返回的metadata中source字段未正确传递到Prompt的context中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27AE60"/>
                </a:solidFill>
                <a:latin typeface="Microsoft YaHei"/>
              </a:defRPr>
            </a:pPr>
            <a:r>
              <a:t>修复: 在构建context时显式拼接source信息，格式为[来源: 文件名.md]，确保LLM能引用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2E66"/>
                </a:solidFill>
                <a:latin typeface="Microsoft YaHei"/>
              </a:defRPr>
            </a:pPr>
            <a:r>
              <a:t>技术复盘 &amp; 拓展学习路径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430000" cy="13716"/>
          </a:xfrm>
          <a:prstGeom prst="rect">
            <a:avLst/>
          </a:prstGeom>
          <a:solidFill>
            <a:srgbClr val="E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项目总结、技能收获与未来方向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2E66"/>
                </a:solidFill>
                <a:latin typeface="Microsoft YaHei"/>
              </a:defRPr>
            </a:pPr>
            <a:r>
              <a:t>技能收获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5943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  技能领域</a:t>
                      </a:r>
                    </a:p>
                  </a:txBody>
                  <a:tcPr anchor="ctr">
                    <a:solidFill>
                      <a:srgbClr val="4A2E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  具体收获</a:t>
                      </a:r>
                    </a:p>
                  </a:txBody>
                  <a:tcPr anchor="ctr">
                    <a:solidFill>
                      <a:srgbClr val="4A2E6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A2E66"/>
                          </a:solidFill>
                          <a:latin typeface="Microsoft YaHei"/>
                        </a:defRPr>
                      </a:pPr>
                      <a:r>
                        <a:t>  大模型API调用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掌握DeepSeek等大模型API的调用与参数调优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A2E66"/>
                          </a:solidFill>
                          <a:latin typeface="Microsoft YaHei"/>
                        </a:defRPr>
                      </a:pPr>
                      <a:r>
                        <a:t>  RAG原理与实践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深入理解检索增强生成的完整技术链路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A2E66"/>
                          </a:solidFill>
                          <a:latin typeface="Microsoft YaHei"/>
                        </a:defRPr>
                      </a:pPr>
                      <a:r>
                        <a:t>  Prompt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学会设计结构化Prompt模板提升回答质量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A2E66"/>
                          </a:solidFill>
                          <a:latin typeface="Microsoft YaHei"/>
                        </a:defRPr>
                      </a:pPr>
                      <a:r>
                        <a:t>  向量数据库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使用ChromaDB进行文档Embedding存储与检索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A2E66"/>
                          </a:solidFill>
                          <a:latin typeface="Microsoft YaHei"/>
                        </a:defRPr>
                      </a:pPr>
                      <a:r>
                        <a:t>  文档处理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掌握Markdown解析、文本切片与预处理技术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A2E66"/>
                          </a:solidFill>
                          <a:latin typeface="Microsoft YaHei"/>
                        </a:defRPr>
                      </a:pPr>
                      <a:r>
                        <a:t>  AI辅助开发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利用Qoder CLI等AI工具提升开发效率</a:t>
                      </a:r>
                    </a:p>
                  </a:txBody>
                  <a:tcPr anchor="ctr">
                    <a:solidFill>
                      <a:srgbClr val="F0EE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A2E66"/>
                          </a:solidFill>
                          <a:latin typeface="Microsoft YaHei"/>
                        </a:defRPr>
                      </a:pPr>
                      <a:r>
                        <a:t>  Web应用开发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1F23"/>
                          </a:solidFill>
                          <a:latin typeface="Microsoft YaHei"/>
                        </a:defRPr>
                      </a:pPr>
                      <a:r>
                        <a:t>使用Gradio快速构建AI应用Web界面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987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2E66"/>
                </a:solidFill>
                <a:latin typeface="Microsoft YaHei"/>
              </a:defRPr>
            </a:pPr>
            <a:r>
              <a:t>拓展学习路径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83400" y="1442720"/>
            <a:ext cx="5029200" cy="86868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141732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417320"/>
            <a:ext cx="64008" cy="868680"/>
          </a:xfrm>
          <a:prstGeom prst="rect">
            <a:avLst/>
          </a:prstGeom>
          <a:solidFill>
            <a:srgbClr val="6F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490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2E66"/>
                </a:solidFill>
                <a:latin typeface="Microsoft YaHei"/>
              </a:defRPr>
            </a:pPr>
            <a:r>
              <a:t>(1) 框架化开发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8013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将RAG系统重构为LangChain/LlamaIndex框架，提升可维护性和扩展性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83400" y="2402840"/>
            <a:ext cx="5029200" cy="86868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237744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2377440"/>
            <a:ext cx="64008" cy="868680"/>
          </a:xfrm>
          <a:prstGeom prst="rect">
            <a:avLst/>
          </a:prstGeom>
          <a:solidFill>
            <a:srgbClr val="7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450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2E66"/>
                </a:solidFill>
                <a:latin typeface="Microsoft YaHei"/>
              </a:defRPr>
            </a:pPr>
            <a:r>
              <a:t>(2) 多模态RAG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7614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支持图片、PDF、表格等多模态文档的检索与问答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83400" y="3362960"/>
            <a:ext cx="5029200" cy="86868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333756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3337560"/>
            <a:ext cx="64008" cy="868680"/>
          </a:xfrm>
          <a:prstGeom prst="rect">
            <a:avLst/>
          </a:prstGeom>
          <a:solidFill>
            <a:srgbClr val="8A6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410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2E66"/>
                </a:solidFill>
                <a:latin typeface="Microsoft YaHei"/>
              </a:defRPr>
            </a:pPr>
            <a:r>
              <a:t>(3) Agentic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7216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引入Agent自主决策能力，动态选择检索策略与工具调用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83400" y="4323080"/>
            <a:ext cx="5029200" cy="86868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429768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4297680"/>
            <a:ext cx="64008" cy="868680"/>
          </a:xfrm>
          <a:prstGeom prst="rect">
            <a:avLst/>
          </a:prstGeom>
          <a:solidFill>
            <a:srgbClr val="9A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4370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2E66"/>
                </a:solidFill>
                <a:latin typeface="Microsoft YaHei"/>
              </a:defRPr>
            </a:pPr>
            <a:r>
              <a:t>(4) Graph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81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构建知识图谱增强检索，提升实体关系推理能力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83400" y="5283200"/>
            <a:ext cx="5029200" cy="868680"/>
          </a:xfrm>
          <a:prstGeom prst="rect">
            <a:avLst/>
          </a:prstGeom>
          <a:solidFill>
            <a:srgbClr val="E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525780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5257800"/>
            <a:ext cx="64008" cy="868680"/>
          </a:xfrm>
          <a:prstGeom prst="rect">
            <a:avLst/>
          </a:prstGeom>
          <a:solidFill>
            <a:srgbClr val="A88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5330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2E66"/>
                </a:solidFill>
                <a:latin typeface="Microsoft YaHei"/>
              </a:defRPr>
            </a:pPr>
            <a:r>
              <a:t>(5) 评估与优化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6418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F23"/>
                </a:solidFill>
                <a:latin typeface="Microsoft YaHei"/>
              </a:defRPr>
            </a:pPr>
            <a:r>
              <a:t>引入RAGAS等评估框架，量化检索与生成质量，持续迭代优化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819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69E2E"/>
                </a:solidFill>
                <a:latin typeface="Microsoft YaHei"/>
              </a:defRPr>
            </a:pPr>
            <a:r>
              <a:t>谢谢！欢迎提问与交流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